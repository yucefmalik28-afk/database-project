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6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547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771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095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562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080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252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449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05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11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275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632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81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18583-982F-4FBA-8593-DA100B192C8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2A13C-E079-4D55-BF77-6CCD67A1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6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0B1"/>
          </a:solidFill>
          <a:ln/>
        </p:spPr>
      </p:sp>
      <p:pic>
        <p:nvPicPr>
          <p:cNvPr id="3" name="Image 0" descr="/home/claude/pptx_images/nil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"/>
            <a:ext cx="1426464" cy="713232"/>
          </a:xfrm>
          <a:prstGeom prst="rect">
            <a:avLst/>
          </a:prstGeom>
        </p:spPr>
      </p:pic>
      <p:pic>
        <p:nvPicPr>
          <p:cNvPr id="4" name="Image 1" descr="/home/claude/pptx_images/biotech_log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288" y="-22860"/>
            <a:ext cx="2097712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10058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 </a:t>
            </a:r>
            <a:r>
              <a:rPr lang="en-US" sz="5400" b="1" dirty="0">
                <a:solidFill>
                  <a:srgbClr val="25D0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Management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36576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Design &amp; Implementation Project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65760" y="3337560"/>
            <a:ext cx="50292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5"/>
          <p:cNvSpPr/>
          <p:nvPr/>
        </p:nvSpPr>
        <p:spPr>
          <a:xfrm>
            <a:off x="36576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</a:t>
            </a:r>
            <a:r>
              <a:rPr lang="en-US" sz="1200" dirty="0" err="1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elsayed</a:t>
            </a:r>
            <a:r>
              <a:rPr lang="en-US" sz="1200" dirty="0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Mohamed ·  221001880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08736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</a:t>
            </a:r>
            <a:r>
              <a:rPr lang="en-US" sz="1200" dirty="0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</a:t>
            </a:r>
            <a:r>
              <a:rPr lang="en-US" sz="1200" dirty="0" smtClean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222000063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43342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5811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5760" y="4800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Mohamed </a:t>
            </a:r>
            <a:r>
              <a:rPr lang="en-US" sz="1100" i="1" dirty="0" err="1" smtClean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Elsayeh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 Management System is designed to manage patients, appointments, clinics, doctors, and departments. It simplifies scheduling, stores patient records, and tracks medical history — all backed by a fully relational SQL database.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3840480" cy="21945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272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a normalized relational database for clinical operations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5478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efficient CRUD operations (Create, Read, Update, Delete)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96849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practical SQL queries for healthcare use cases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3891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data integrity using foreign keys &amp; constraints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777240"/>
            <a:ext cx="82296" cy="74980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822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078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departments including Cardiology, Neurology, Oncology…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62763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627632"/>
            <a:ext cx="82296" cy="749808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733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19293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clinics linked to their respective departments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478024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478024"/>
            <a:ext cx="82296" cy="749808"/>
          </a:xfrm>
          <a:prstGeom prst="rect">
            <a:avLst/>
          </a:prstGeom>
          <a:solidFill>
            <a:srgbClr val="1D8348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27797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doctors assigned to departments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332841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328416"/>
            <a:ext cx="82296" cy="74980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36301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patients with personal &amp; contact information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417880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4178808"/>
            <a:ext cx="82296" cy="749808"/>
          </a:xfrm>
          <a:prstGeom prst="rect">
            <a:avLst/>
          </a:prstGeom>
          <a:solidFill>
            <a:srgbClr val="CB4335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4480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appointments with diagnosis, cost, status &amp; timing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200" dirty="0"/>
          </a:p>
        </p:txBody>
      </p:sp>
      <p:pic>
        <p:nvPicPr>
          <p:cNvPr id="4" name="Image 0" descr="/home/claude/pptx_images/logical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46320"/>
            <a:ext cx="4114800" cy="201168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8463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Relational Schema — showing primary keys (underlined) and foreign key links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77724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777240"/>
            <a:ext cx="1280160" cy="76809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8503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DepartmentID (PK), Name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64592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645920"/>
            <a:ext cx="1280160" cy="768096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783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171907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ClinicID (PK), Name, Address, DepartmentID (FK)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514600"/>
            <a:ext cx="1280160" cy="768096"/>
          </a:xfrm>
          <a:prstGeom prst="rect">
            <a:avLst/>
          </a:prstGeom>
          <a:solidFill>
            <a:srgbClr val="1D8348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651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258775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(PK), Name, PhoneNumber, Address, DepartmentID (FK)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33832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3383280"/>
            <a:ext cx="1280160" cy="768096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35040" y="345643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(PK), Name, PhoneNumber, Address, BirthDate, Job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425196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4251960"/>
            <a:ext cx="1280160" cy="768096"/>
          </a:xfrm>
          <a:prstGeom prst="rect">
            <a:avLst/>
          </a:prstGeom>
          <a:solidFill>
            <a:srgbClr val="CB4335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4389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35040" y="432511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 (PK), Date, PatientID (FK), DoctorID (FK),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StartTime, EndTime, Cost, Status, Diagnosis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200" dirty="0"/>
          </a:p>
        </p:txBody>
      </p:sp>
      <p:pic>
        <p:nvPicPr>
          <p:cNvPr id="4" name="Image 0" descr="/home/claude/pptx_images/er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3035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919472"/>
            <a:ext cx="5303520" cy="18288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1947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ER Diagram showing entities, attributes, relationships, and cardinality ratios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2160" y="8046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0" y="1234440"/>
            <a:ext cx="3063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234440"/>
            <a:ext cx="658368" cy="6949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43560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65392" y="1280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→ Clinics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65392" y="1554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manages many clinics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011680"/>
            <a:ext cx="3063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011680"/>
            <a:ext cx="658368" cy="6949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221284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65392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→ Doctors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65392" y="23317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contains many doctors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2788920"/>
            <a:ext cx="3063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52160" y="2788920"/>
            <a:ext cx="658368" cy="6949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299008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65392" y="2834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→ Appointments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65392" y="31089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 handles many appointments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52160" y="3566160"/>
            <a:ext cx="3063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52160" y="3566160"/>
            <a:ext cx="658368" cy="6949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0" y="376732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65392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Appointments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65392" y="38862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can have multiple appointments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52160" y="4343400"/>
            <a:ext cx="3063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52160" y="4343400"/>
            <a:ext cx="658368" cy="6949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0" name="Text 27"/>
          <p:cNvSpPr/>
          <p:nvPr/>
        </p:nvSpPr>
        <p:spPr>
          <a:xfrm>
            <a:off x="5852160" y="454456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565392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→ Department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65392" y="4663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clinic belongs to one department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Queries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Patients diagnosed with Fatty Liver in the last year</a:t>
            </a:r>
            <a:endParaRPr lang="en-US" sz="1200" dirty="0"/>
          </a:p>
        </p:txBody>
      </p:sp>
      <p:pic>
        <p:nvPicPr>
          <p:cNvPr id="6" name="Image 0" descr="/home/claude/pptx_images/sql_query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859536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148840"/>
            <a:ext cx="8595360" cy="201168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21488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2487168"/>
            <a:ext cx="8595360" cy="292608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2487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Addresses of Cardiology Clinics (JOIN)</a:t>
            </a:r>
            <a:endParaRPr lang="en-US" sz="1200" dirty="0"/>
          </a:p>
        </p:txBody>
      </p:sp>
      <p:pic>
        <p:nvPicPr>
          <p:cNvPr id="11" name="Image 1" descr="/home/claude/pptx_images/sql_query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807208"/>
            <a:ext cx="8595360" cy="9875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3657600"/>
            <a:ext cx="8595360" cy="201168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" y="36576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3977640"/>
            <a:ext cx="8595360" cy="292608"/>
          </a:xfrm>
          <a:prstGeom prst="rect">
            <a:avLst/>
          </a:prstGeom>
          <a:solidFill>
            <a:srgbClr val="1D8348"/>
          </a:solidFill>
          <a:ln/>
        </p:spPr>
      </p:sp>
      <p:sp>
        <p:nvSpPr>
          <p:cNvPr id="15" name="Text 11"/>
          <p:cNvSpPr/>
          <p:nvPr/>
        </p:nvSpPr>
        <p:spPr>
          <a:xfrm>
            <a:off x="411480" y="39776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Total Amount Paid by Patient #12527 in the Last 3 Years (Aggregate)</a:t>
            </a:r>
            <a:endParaRPr lang="en-US" sz="1200" dirty="0"/>
          </a:p>
        </p:txBody>
      </p:sp>
      <p:pic>
        <p:nvPicPr>
          <p:cNvPr id="16" name="Image 2" descr="/home/claude/pptx_images/sql_query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297680"/>
            <a:ext cx="8595360" cy="749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18" name="Text 13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Population &amp; CRUD 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Overview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095251"/>
              </p:ext>
            </p:extLst>
          </p:nvPr>
        </p:nvGraphicFramePr>
        <p:xfrm>
          <a:off x="365760" y="943897"/>
          <a:ext cx="4114800" cy="2457671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2240280"/>
              </a:tblGrid>
              <a:tr h="4825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Cardiology, Neurology, Oncology, Pediatrics…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Clinic, Brain Clinic, Cancer Clinic…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Ayman, Dr. Leila, Dr. Sara…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 Ahmed, Sara Youssef, Tamer Sherif…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Statuses: Completed, Scheduled, Postponed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77724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4754880" y="777240"/>
            <a:ext cx="914400" cy="914400"/>
          </a:xfrm>
          <a:prstGeom prst="rect">
            <a:avLst/>
          </a:prstGeom>
          <a:solidFill>
            <a:srgbClr val="1D834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051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886968"/>
            <a:ext cx="3063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– Add new departments, clinics, doctors, patients, appointments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84708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847088"/>
            <a:ext cx="914400" cy="9144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121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1956816"/>
            <a:ext cx="3063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– Retrieve patient lists, diagnoses, clinic addresses, cost totals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91693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916936"/>
            <a:ext cx="91440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1912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0720" y="3026664"/>
            <a:ext cx="3063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SET – Modify patient contact info, appointment status, clinic addresses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986784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986784"/>
            <a:ext cx="914400" cy="914400"/>
          </a:xfrm>
          <a:prstGeom prst="rect">
            <a:avLst/>
          </a:prstGeom>
          <a:solidFill>
            <a:srgbClr val="CB4335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42611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60720" y="4096512"/>
            <a:ext cx="3063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– Remove records while maintaining referential integrity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200400"/>
            <a:ext cx="4114800" cy="16916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UPDATE Operations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3584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patient address &amp; phone (PatientID 12530)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39684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appointment status to 'Postponed' (AppointmentID 20003)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3525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clinic address (ClinicID 101)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0B1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548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457200" y="1051560"/>
            <a:ext cx="4937760" cy="512064"/>
          </a:xfrm>
          <a:prstGeom prst="rect">
            <a:avLst/>
          </a:prstGeom>
          <a:solidFill>
            <a:srgbClr val="132B47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512064"/>
          </a:xfrm>
          <a:prstGeom prst="rect">
            <a:avLst/>
          </a:prstGeom>
          <a:solidFill>
            <a:srgbClr val="25D0B1"/>
          </a:solidFill>
          <a:ln/>
        </p:spPr>
      </p:sp>
      <p:sp>
        <p:nvSpPr>
          <p:cNvPr id="8" name="Text 4"/>
          <p:cNvSpPr/>
          <p:nvPr/>
        </p:nvSpPr>
        <p:spPr>
          <a:xfrm>
            <a:off x="621792" y="1051560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fully normalized relational database with 5 entities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1655064"/>
            <a:ext cx="4937760" cy="512064"/>
          </a:xfrm>
          <a:prstGeom prst="rect">
            <a:avLst/>
          </a:prstGeom>
          <a:solidFill>
            <a:srgbClr val="132B47"/>
          </a:solidFill>
          <a:ln/>
        </p:spPr>
      </p:sp>
      <p:sp>
        <p:nvSpPr>
          <p:cNvPr id="10" name="Shape 6"/>
          <p:cNvSpPr/>
          <p:nvPr/>
        </p:nvSpPr>
        <p:spPr>
          <a:xfrm>
            <a:off x="457200" y="1655064"/>
            <a:ext cx="73152" cy="512064"/>
          </a:xfrm>
          <a:prstGeom prst="rect">
            <a:avLst/>
          </a:prstGeom>
          <a:solidFill>
            <a:srgbClr val="25D0B1"/>
          </a:solidFill>
          <a:ln/>
        </p:spPr>
      </p:sp>
      <p:sp>
        <p:nvSpPr>
          <p:cNvPr id="11" name="Text 7"/>
          <p:cNvSpPr/>
          <p:nvPr/>
        </p:nvSpPr>
        <p:spPr>
          <a:xfrm>
            <a:off x="621792" y="1655064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foreign key constraints for full data integrity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258568"/>
            <a:ext cx="4937760" cy="512064"/>
          </a:xfrm>
          <a:prstGeom prst="rect">
            <a:avLst/>
          </a:prstGeom>
          <a:solidFill>
            <a:srgbClr val="132B47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258568"/>
            <a:ext cx="73152" cy="512064"/>
          </a:xfrm>
          <a:prstGeom prst="rect">
            <a:avLst/>
          </a:prstGeom>
          <a:solidFill>
            <a:srgbClr val="25D0B1"/>
          </a:solidFill>
          <a:ln/>
        </p:spPr>
      </p:sp>
      <p:sp>
        <p:nvSpPr>
          <p:cNvPr id="14" name="Text 10"/>
          <p:cNvSpPr/>
          <p:nvPr/>
        </p:nvSpPr>
        <p:spPr>
          <a:xfrm>
            <a:off x="621792" y="2258568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complex queries using JOINs, subqueries &amp; aggregates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862072"/>
            <a:ext cx="4937760" cy="512064"/>
          </a:xfrm>
          <a:prstGeom prst="rect">
            <a:avLst/>
          </a:prstGeom>
          <a:solidFill>
            <a:srgbClr val="132B47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2862072"/>
            <a:ext cx="73152" cy="512064"/>
          </a:xfrm>
          <a:prstGeom prst="rect">
            <a:avLst/>
          </a:prstGeom>
          <a:solidFill>
            <a:srgbClr val="25D0B1"/>
          </a:solidFill>
          <a:ln/>
        </p:spPr>
      </p:sp>
      <p:sp>
        <p:nvSpPr>
          <p:cNvPr id="17" name="Text 13"/>
          <p:cNvSpPr/>
          <p:nvPr/>
        </p:nvSpPr>
        <p:spPr>
          <a:xfrm>
            <a:off x="621792" y="2862072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all tables with 10+ realistic test records each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465576"/>
            <a:ext cx="4937760" cy="512064"/>
          </a:xfrm>
          <a:prstGeom prst="rect">
            <a:avLst/>
          </a:prstGeom>
          <a:solidFill>
            <a:srgbClr val="132B47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3465576"/>
            <a:ext cx="73152" cy="512064"/>
          </a:xfrm>
          <a:prstGeom prst="rect">
            <a:avLst/>
          </a:prstGeom>
          <a:solidFill>
            <a:srgbClr val="25D0B1"/>
          </a:solidFill>
          <a:ln/>
        </p:spPr>
      </p:sp>
      <p:sp>
        <p:nvSpPr>
          <p:cNvPr id="20" name="Text 16"/>
          <p:cNvSpPr/>
          <p:nvPr/>
        </p:nvSpPr>
        <p:spPr>
          <a:xfrm>
            <a:off x="621792" y="3465576"/>
            <a:ext cx="4709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CRUD operations across all tables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4160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4453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669280" y="1097280"/>
            <a:ext cx="3200400" cy="2743200"/>
          </a:xfrm>
          <a:prstGeom prst="rect">
            <a:avLst/>
          </a:prstGeom>
          <a:solidFill>
            <a:srgbClr val="1B6CA8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669280" y="15087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You!</a:t>
            </a:r>
            <a:endParaRPr lang="en-US" sz="4200" dirty="0"/>
          </a:p>
        </p:txBody>
      </p:sp>
      <p:sp>
        <p:nvSpPr>
          <p:cNvPr id="25" name="Text 21"/>
          <p:cNvSpPr/>
          <p:nvPr/>
        </p:nvSpPr>
        <p:spPr>
          <a:xfrm>
            <a:off x="56692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6576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569</Words>
  <Application>Microsoft Office PowerPoint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 Management System – Database Project</dc:title>
  <dc:subject>PptxGenJS Presentation</dc:subject>
  <dc:creator>Clinic Management System</dc:creator>
  <cp:lastModifiedBy>aya</cp:lastModifiedBy>
  <cp:revision>2</cp:revision>
  <dcterms:created xsi:type="dcterms:W3CDTF">2026-05-31T01:34:11Z</dcterms:created>
  <dcterms:modified xsi:type="dcterms:W3CDTF">2026-05-31T02:56:23Z</dcterms:modified>
</cp:coreProperties>
</file>